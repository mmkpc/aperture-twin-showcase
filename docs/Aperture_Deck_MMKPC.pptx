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ietresearch.onlinelibrary.wiley.com/doi/10.1049/iet-rpg.2016.0248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ertis-research/opentwins" TargetMode="External"/><Relationship Id="rId2" Type="http://schemas.openxmlformats.org/officeDocument/2006/relationships/hyperlink" Target="https://learn.microsoft.com/en-us/azure/digital-twins/overview" TargetMode="External"/><Relationship Id="rId3" Type="http://schemas.openxmlformats.org/officeDocument/2006/relationships/hyperlink" Target="https://developer.nvidia.com/omniverse" TargetMode="External"/><Relationship Id="rId4" Type="http://schemas.openxmlformats.org/officeDocument/2006/relationships/hyperlink" Target="https://openfast.readthedocs.io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zenodo.org/records/5841834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ui.adsabs.harvard.edu/abs/2020IEEEA...821980R" TargetMode="External"/><Relationship Id="rId2" Type="http://schemas.openxmlformats.org/officeDocument/2006/relationships/hyperlink" Target="https://arxiv.org/pdf/2210.00073" TargetMode="External"/><Relationship Id="rId3" Type="http://schemas.openxmlformats.org/officeDocument/2006/relationships/hyperlink" Target="https://dl.acm.org/doi/10.1007/s10994-017-5633-9" TargetMode="External"/><Relationship Id="rId4" Type="http://schemas.openxmlformats.org/officeDocument/2006/relationships/hyperlink" Target="https://www.sciencedirect.com/science/article/abs/pii/S0888327010003608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zenodo.org/records/5841834" TargetMode="External"/><Relationship Id="rId2" Type="http://schemas.openxmlformats.org/officeDocument/2006/relationships/hyperlink" Target="https://otexts.com/fpp3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zenodo.org/records/5841834" TargetMode="Externa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zenodo.org/records/5841834" TargetMode="External"/><Relationship Id="rId3" Type="http://schemas.openxmlformats.org/officeDocument/2006/relationships/hyperlink" Target="https://arxiv.org/pdf/2210.00073" TargetMode="External"/><Relationship Id="rId1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l.acm.org/doi/10.1007/s10994-017-5633-9" TargetMode="External"/><Relationship Id="rId3" Type="http://schemas.openxmlformats.org/officeDocument/2006/relationships/hyperlink" Target="https://dl.acm.org/doi/10.1145/1143844.1143874" TargetMode="External"/><Relationship Id="rId1" Type="http://schemas.openxmlformats.org/officeDocument/2006/relationships/image" Target="../media/image-1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l.acm.org/doi/10.1145/1143844.1143874" TargetMode="External"/><Relationship Id="rId3" Type="http://schemas.openxmlformats.org/officeDocument/2006/relationships/hyperlink" Target="https://zenodo.org/records/5841834" TargetMode="External"/><Relationship Id="rId1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MKPC/aperture-twi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MKPC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WHITE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Aperture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4BC6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Digital Twin for Utility-Scale Wind Turbines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0" y="3154680"/>
            <a:ext cx="5788152" cy="36576"/>
          </a:xfrm>
          <a:prstGeom prst="rect">
            <a:avLst/>
          </a:prstGeom>
          <a:solidFill>
            <a:srgbClr val="1E2D38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91840"/>
            <a:ext cx="11091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 Mitchell  ·  MMKPC Studios  ·  April 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67588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MMKPC Studios · Independent Research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59752" y="66019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Matthew Mitchell · MMKPC Studios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256032"/>
            <a:ext cx="36576" cy="20116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C6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Problem: Wind O&amp;M Cost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11365992" cy="0"/>
          </a:xfrm>
          <a:prstGeom prst="line">
            <a:avLst/>
          </a:prstGeom>
          <a:noFill/>
          <a:ln w="12700">
            <a:solidFill>
              <a:srgbClr val="1E2D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71600"/>
            <a:ext cx="5029200" cy="237744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630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25–30%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wind LCOE is Operations &amp; Maintenance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failures account for a disproportionate share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heavy-lift crane mobilization and extended downtime.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42432" y="1371600"/>
            <a:ext cx="6035040" cy="237744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444752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C6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Failure Drivers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97880" y="1938528"/>
            <a:ext cx="54864" cy="54864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901952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Gearbox failures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2157984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Multi-week downtime; crane-intensive replacement costing $200K–$500K per event.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2532888"/>
            <a:ext cx="54864" cy="54864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496312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actuator faults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2752344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blade loading accelerates structural fatigue; difficult to detect via vibration alone.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97880" y="3127248"/>
            <a:ext cx="54864" cy="54864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3090672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Icing-driven underperformance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3346704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losses of 10–20% during winter months; SCADA-detectable via power/wind deviation.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886200"/>
            <a:ext cx="11365992" cy="82296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977640"/>
            <a:ext cx="11018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SCADA-based condition monitoring has been shown to detect anomalies weeks to months before mechanical failure, enabling planned rather than emergency maintenance campaigns.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6473952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Tautz-Weinert &amp; Watson 2017 (IET Renewable Power Generation)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59752" y="66019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Matthew Mitchell · MMKPC Studios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256032"/>
            <a:ext cx="36576" cy="20116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C6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Gap: Existing Platforms vs. Aperture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11365992" cy="0"/>
          </a:xfrm>
          <a:prstGeom prst="line">
            <a:avLst/>
          </a:prstGeom>
          <a:noFill/>
          <a:ln w="12700">
            <a:solidFill>
              <a:srgbClr val="1E2D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53312"/>
            <a:ext cx="11365992" cy="384048"/>
          </a:xfrm>
          <a:prstGeom prst="rect">
            <a:avLst/>
          </a:prstGeom>
          <a:solidFill>
            <a:srgbClr val="1E2D38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408176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98064" y="1408176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Fidelity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74336" y="1408176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50608" y="1408176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0" y="1408176"/>
            <a:ext cx="2898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Browser-Native?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1737360"/>
            <a:ext cx="11365992" cy="658368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1792224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OpenFAST (NREL)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98064" y="1792224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multi-physics aeroelastic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74336" y="1792224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CLI / HPC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50608" y="1792224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0" y="1792224"/>
            <a:ext cx="2898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requires Python/Fortran stack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395728"/>
            <a:ext cx="11365992" cy="658368"/>
          </a:xfrm>
          <a:prstGeom prst="rect">
            <a:avLst/>
          </a:prstGeom>
          <a:solidFill>
            <a:srgbClr val="0D1219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2450592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Digital Twins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98064" y="2450592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IoT state graph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74336" y="2450592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cloud (managed)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50608" y="2450592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SaaS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26880" y="2450592"/>
            <a:ext cx="2898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DTDL + portal only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054096"/>
            <a:ext cx="11365992" cy="658368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108960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NVIDIA Omniverse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98064" y="3108960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USD physics + GPU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74336" y="3108960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 / cloud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50608" y="3108960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license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26880" y="3108960"/>
            <a:ext cx="2898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native client required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3712464"/>
            <a:ext cx="11365992" cy="658368"/>
          </a:xfrm>
          <a:prstGeom prst="rect">
            <a:avLst/>
          </a:prstGeom>
          <a:solidFill>
            <a:srgbClr val="0D1219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3767328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Academic DTs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98064" y="3767328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(often high)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74336" y="3767328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deployable (research code)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50608" y="3767328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/ none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326880" y="3767328"/>
            <a:ext cx="2898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custom infrastructure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1480" y="4370832"/>
            <a:ext cx="11365992" cy="658368"/>
          </a:xfrm>
          <a:prstGeom prst="rect">
            <a:avLst/>
          </a:prstGeom>
          <a:solidFill>
            <a:srgbClr val="0F2028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" y="4425696"/>
            <a:ext cx="2139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C6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Aperture (this work)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98064" y="4425696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physics + ML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74336" y="4425696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 host / GitHub Pages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50608" y="4425696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(MIT)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326880" y="4425696"/>
            <a:ext cx="2898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zero dependency SPA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1480" y="6473952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OpenTwins (Robles et al. 2023)</a:t>
            </a:r>
            <a:pPr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Azure Digital Twins</a:t>
            </a:r>
            <a:pPr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NVIDIA Omniverse</a:t>
            </a:r>
            <a:pPr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OpenFAST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59752" y="66019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Matthew Mitchell · MMKPC Studios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256032"/>
            <a:ext cx="36576" cy="20116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C6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 Thesis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11365992" cy="0"/>
          </a:xfrm>
          <a:prstGeom prst="line">
            <a:avLst/>
          </a:prstGeom>
          <a:noFill/>
          <a:ln w="12700">
            <a:solidFill>
              <a:srgbClr val="1E2D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71600"/>
            <a:ext cx="11365992" cy="228600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08760"/>
            <a:ext cx="10817352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"A portable, browser-deployable hybrid physics/ML digital twin that runs against open SCADA data can exercise every pillar of digital twin engineering practice — fundamentals, ML surrogates, real-time simulation, and integrated operator-facing applications — while remaining honest about its fidelity limits relative to production-grade platforms."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45236" y="3840480"/>
            <a:ext cx="2468880" cy="1051560"/>
          </a:xfrm>
          <a:prstGeom prst="rect">
            <a:avLst/>
          </a:prstGeom>
          <a:solidFill>
            <a:srgbClr val="1E2D38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" y="3913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6676" y="416966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88436" y="3840480"/>
            <a:ext cx="2468880" cy="1051560"/>
          </a:xfrm>
          <a:prstGeom prst="rect">
            <a:avLst/>
          </a:prstGeom>
          <a:solidFill>
            <a:srgbClr val="1E2D38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9876" y="3913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79876" y="416966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 Modeling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Simulation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3840480"/>
            <a:ext cx="2468880" cy="1051560"/>
          </a:xfrm>
          <a:prstGeom prst="rect">
            <a:avLst/>
          </a:prstGeom>
          <a:solidFill>
            <a:srgbClr val="1E2D38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3076" y="3913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23076" y="416966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74836" y="3840480"/>
            <a:ext cx="2468880" cy="1051560"/>
          </a:xfrm>
          <a:prstGeom prst="rect">
            <a:avLst/>
          </a:prstGeom>
          <a:solidFill>
            <a:srgbClr val="1E2D38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66276" y="39136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66276" y="416966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502920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subject areas · One deployable artifact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59752" y="66019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Matthew Mitchell · MMKPC Studios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256032"/>
            <a:ext cx="36576" cy="20116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BC6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9-Layer Reference Architecture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11365992" cy="0"/>
          </a:xfrm>
          <a:prstGeom prst="line">
            <a:avLst/>
          </a:prstGeom>
          <a:noFill/>
          <a:ln w="12700">
            <a:solidFill>
              <a:srgbClr val="1E2D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89888"/>
            <a:ext cx="5029200" cy="640080"/>
          </a:xfrm>
          <a:prstGeom prst="rect">
            <a:avLst/>
          </a:prstGeom>
          <a:solidFill>
            <a:srgbClr val="0F2A30"/>
          </a:solidFill>
          <a:ln w="19050">
            <a:solidFill>
              <a:srgbClr val="4BC6C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499616"/>
            <a:ext cx="329184" cy="402336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99616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1832" y="14630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Asset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41832" y="1728216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Senvion MM92 turbine profile + sensor schema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26080" y="2029968"/>
            <a:ext cx="0" cy="201168"/>
          </a:xfrm>
          <a:prstGeom prst="line">
            <a:avLst/>
          </a:prstGeom>
          <a:noFill/>
          <a:ln w="12700">
            <a:solidFill>
              <a:srgbClr val="8AA0A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1480" y="2231136"/>
            <a:ext cx="5029200" cy="640080"/>
          </a:xfrm>
          <a:prstGeom prst="rect">
            <a:avLst/>
          </a:prstGeom>
          <a:solidFill>
            <a:srgbClr val="0F2A30"/>
          </a:solidFill>
          <a:ln w="19050">
            <a:solidFill>
              <a:srgbClr val="4BC6C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340864"/>
            <a:ext cx="329184" cy="402336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40864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41832" y="23042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 Gateway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1832" y="2569464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SCADA replay · Kelmarsh signal schema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926080" y="2871216"/>
            <a:ext cx="0" cy="201168"/>
          </a:xfrm>
          <a:prstGeom prst="line">
            <a:avLst/>
          </a:prstGeom>
          <a:noFill/>
          <a:ln w="12700">
            <a:solidFill>
              <a:srgbClr val="8AA0A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1480" y="3072384"/>
            <a:ext cx="5029200" cy="640080"/>
          </a:xfrm>
          <a:prstGeom prst="rect">
            <a:avLst/>
          </a:prstGeom>
          <a:solidFill>
            <a:srgbClr val="0F2A30"/>
          </a:solidFill>
          <a:ln w="19050">
            <a:solidFill>
              <a:srgbClr val="4BC6C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82112"/>
            <a:ext cx="329184" cy="402336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82112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1832" y="314553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Store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1832" y="341071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typed SCADA record (10-min step)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26080" y="3712464"/>
            <a:ext cx="0" cy="201168"/>
          </a:xfrm>
          <a:prstGeom prst="line">
            <a:avLst/>
          </a:prstGeom>
          <a:noFill/>
          <a:ln w="12700">
            <a:solidFill>
              <a:srgbClr val="8AA0A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11480" y="3913632"/>
            <a:ext cx="5029200" cy="640080"/>
          </a:xfrm>
          <a:prstGeom prst="rect">
            <a:avLst/>
          </a:prstGeom>
          <a:solidFill>
            <a:srgbClr val="0F2A30"/>
          </a:solidFill>
          <a:ln w="19050">
            <a:solidFill>
              <a:srgbClr val="4BC6C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023360"/>
            <a:ext cx="329184" cy="402336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23360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41832" y="398678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Builder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41832" y="4251960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· rolling stats · residuals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926080" y="4553712"/>
            <a:ext cx="0" cy="201168"/>
          </a:xfrm>
          <a:prstGeom prst="line">
            <a:avLst/>
          </a:prstGeom>
          <a:noFill/>
          <a:ln w="12700">
            <a:solidFill>
              <a:srgbClr val="8AA0A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11480" y="4754880"/>
            <a:ext cx="5029200" cy="640080"/>
          </a:xfrm>
          <a:prstGeom prst="rect">
            <a:avLst/>
          </a:prstGeom>
          <a:solidFill>
            <a:srgbClr val="0F2A30"/>
          </a:solidFill>
          <a:ln w="19050">
            <a:solidFill>
              <a:srgbClr val="4BC6C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864608"/>
            <a:ext cx="329184" cy="402336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864608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41832" y="48280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 Engine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41832" y="5093208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power · KNN gearbox · OCT classifier · anomaly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926080" y="5394960"/>
            <a:ext cx="0" cy="201168"/>
          </a:xfrm>
          <a:prstGeom prst="line">
            <a:avLst/>
          </a:prstGeom>
          <a:noFill/>
          <a:ln w="12700">
            <a:solidFill>
              <a:srgbClr val="8AA0AD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11480" y="5596128"/>
            <a:ext cx="5029200" cy="640080"/>
          </a:xfrm>
          <a:prstGeom prst="rect">
            <a:avLst/>
          </a:prstGeom>
          <a:solidFill>
            <a:srgbClr val="0F2A30"/>
          </a:solidFill>
          <a:ln w="19050">
            <a:solidFill>
              <a:srgbClr val="4BC6C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5705856"/>
            <a:ext cx="329184" cy="402336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5705856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41832" y="56692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Engine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41832" y="5934456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Optimistic · Stress scenario branches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583680" y="1389888"/>
            <a:ext cx="5193792" cy="566928"/>
          </a:xfrm>
          <a:prstGeom prst="rect">
            <a:avLst/>
          </a:prstGeom>
          <a:solidFill>
            <a:srgbClr val="0D2535"/>
          </a:solidFill>
          <a:ln w="19050">
            <a:solidFill>
              <a:srgbClr val="4BC6C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56832" y="1472184"/>
            <a:ext cx="347472" cy="347472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56832" y="1472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14032" y="1453896"/>
            <a:ext cx="4553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Scene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114032" y="1691640"/>
            <a:ext cx="4553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procedural nacelle · fault tint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180576" y="1956816"/>
            <a:ext cx="0" cy="155448"/>
          </a:xfrm>
          <a:prstGeom prst="line">
            <a:avLst/>
          </a:prstGeom>
          <a:noFill/>
          <a:ln w="12700">
            <a:solidFill>
              <a:srgbClr val="8AA0AD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583680" y="2112264"/>
            <a:ext cx="5193792" cy="566928"/>
          </a:xfrm>
          <a:prstGeom prst="rect">
            <a:avLst/>
          </a:prstGeom>
          <a:solidFill>
            <a:srgbClr val="0D2535"/>
          </a:solidFill>
          <a:ln w="19050">
            <a:solidFill>
              <a:srgbClr val="4BC6C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656832" y="2194560"/>
            <a:ext cx="347472" cy="347472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56832" y="2194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114032" y="2176272"/>
            <a:ext cx="4553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114032" y="2414016"/>
            <a:ext cx="4553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panels · time-series charts · trend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80576" y="2679192"/>
            <a:ext cx="0" cy="155448"/>
          </a:xfrm>
          <a:prstGeom prst="line">
            <a:avLst/>
          </a:prstGeom>
          <a:noFill/>
          <a:ln w="12700">
            <a:solidFill>
              <a:srgbClr val="8AA0AD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583680" y="2834640"/>
            <a:ext cx="5193792" cy="566928"/>
          </a:xfrm>
          <a:prstGeom prst="rect">
            <a:avLst/>
          </a:prstGeom>
          <a:solidFill>
            <a:srgbClr val="0D2535"/>
          </a:solidFill>
          <a:ln w="19050">
            <a:solidFill>
              <a:srgbClr val="4BC6C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56832" y="2916936"/>
            <a:ext cx="347472" cy="347472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56832" y="29169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7c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114032" y="2898648"/>
            <a:ext cx="4553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Annunciator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114032" y="3136392"/>
            <a:ext cx="4553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DCS-style alarm rows · severity levels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9180576" y="3401568"/>
            <a:ext cx="0" cy="155448"/>
          </a:xfrm>
          <a:prstGeom prst="line">
            <a:avLst/>
          </a:prstGeom>
          <a:noFill/>
          <a:ln w="12700">
            <a:solidFill>
              <a:srgbClr val="E89059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583680" y="3557016"/>
            <a:ext cx="5193792" cy="566928"/>
          </a:xfrm>
          <a:prstGeom prst="rect">
            <a:avLst/>
          </a:prstGeom>
          <a:solidFill>
            <a:srgbClr val="2A1A0A"/>
          </a:solidFill>
          <a:ln w="19050">
            <a:solidFill>
              <a:srgbClr val="E8905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656832" y="3639312"/>
            <a:ext cx="347472" cy="347472"/>
          </a:xfrm>
          <a:prstGeom prst="rect">
            <a:avLst/>
          </a:prstGeom>
          <a:solidFill>
            <a:srgbClr val="E89059"/>
          </a:solidFill>
          <a:ln w="12700">
            <a:solidFill>
              <a:srgbClr val="E8905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56832" y="3639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114032" y="3621024"/>
            <a:ext cx="4553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Actuator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114032" y="3858768"/>
            <a:ext cx="4553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· yaw · shutdown · fault-inject cmds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9180576" y="4123944"/>
            <a:ext cx="0" cy="155448"/>
          </a:xfrm>
          <a:prstGeom prst="line">
            <a:avLst/>
          </a:prstGeom>
          <a:noFill/>
          <a:ln w="12700">
            <a:solidFill>
              <a:srgbClr val="E89059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6583680" y="4279392"/>
            <a:ext cx="5193792" cy="566928"/>
          </a:xfrm>
          <a:prstGeom prst="rect">
            <a:avLst/>
          </a:prstGeom>
          <a:solidFill>
            <a:srgbClr val="2A1A0A"/>
          </a:solidFill>
          <a:ln w="19050">
            <a:solidFill>
              <a:srgbClr val="E8905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56832" y="4361688"/>
            <a:ext cx="347472" cy="347472"/>
          </a:xfrm>
          <a:prstGeom prst="rect">
            <a:avLst/>
          </a:prstGeom>
          <a:solidFill>
            <a:srgbClr val="E89059"/>
          </a:solidFill>
          <a:ln w="12700">
            <a:solidFill>
              <a:srgbClr val="E8905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56832" y="43616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114032" y="4343400"/>
            <a:ext cx="4553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Interface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7114032" y="4581144"/>
            <a:ext cx="45537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surface · ack · scenario select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440680" y="3118104"/>
            <a:ext cx="1143000" cy="0"/>
          </a:xfrm>
          <a:prstGeom prst="line">
            <a:avLst/>
          </a:prstGeom>
          <a:noFill/>
          <a:ln w="12700">
            <a:solidFill>
              <a:srgbClr val="8AA0AD"/>
            </a:solidFill>
            <a:prstDash val="solid"/>
            <a:tailEnd type="triangle"/>
          </a:ln>
        </p:spPr>
      </p:sp>
      <p:sp>
        <p:nvSpPr>
          <p:cNvPr id="73" name="Text 71"/>
          <p:cNvSpPr/>
          <p:nvPr/>
        </p:nvSpPr>
        <p:spPr>
          <a:xfrm>
            <a:off x="5532120" y="2916936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583680" y="6035040"/>
            <a:ext cx="182880" cy="164592"/>
          </a:xfrm>
          <a:prstGeom prst="rect">
            <a:avLst/>
          </a:prstGeom>
          <a:solidFill>
            <a:srgbClr val="0F2A30"/>
          </a:solidFill>
          <a:ln w="19050">
            <a:solidFill>
              <a:srgbClr val="4BC6C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39712" y="604418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layer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686800" y="6035040"/>
            <a:ext cx="182880" cy="164592"/>
          </a:xfrm>
          <a:prstGeom prst="rect">
            <a:avLst/>
          </a:prstGeom>
          <a:solidFill>
            <a:srgbClr val="2A1A0A"/>
          </a:solidFill>
          <a:ln w="19050">
            <a:solidFill>
              <a:srgbClr val="E8905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961120" y="604418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layer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59752" y="66019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Matthew Mitchell · MMKPC Studios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256032"/>
            <a:ext cx="36576" cy="20116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C6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SCADA: Kelmarsh Wind Farm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11365992" cy="0"/>
          </a:xfrm>
          <a:prstGeom prst="line">
            <a:avLst/>
          </a:prstGeom>
          <a:noFill/>
          <a:ln w="12700">
            <a:solidFill>
              <a:srgbClr val="1E2D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71600"/>
            <a:ext cx="5303520" cy="379476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630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FARM PROFILE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8470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18470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× Senvion MM92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1671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Power: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1671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MW per turbine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4871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Height: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4871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8072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Rotor Diameter: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28072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1272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31272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Kelmarsh, Northamptonshire, UK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44728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Span: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34472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– 2021 (5.5 years)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7673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376732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mean / std / min / max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08736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Split: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94560" y="40873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2016-05-03 → 2016-10-20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4407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94560" y="440740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2016-11-26 → 2016-12-31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47274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94560" y="47274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CC-BY-4.0 (Zenodo DOI: 10.5281/zenodo.5841833)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89320" y="1371600"/>
            <a:ext cx="5788152" cy="379476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146304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SCHEMA (~110 VARIABLES)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1920240"/>
            <a:ext cx="64008" cy="640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184708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 (avg / std / min / max)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2240280"/>
            <a:ext cx="64008" cy="640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36792" y="216712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power output (kW)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72200" y="2560320"/>
            <a:ext cx="64008" cy="640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6792" y="248716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Rotor speed (RPM)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72200" y="2880360"/>
            <a:ext cx="64008" cy="640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36792" y="280720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pitch angles A / B / C (°)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72200" y="3200400"/>
            <a:ext cx="64008" cy="640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36792" y="312724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Nacelle yaw position (°)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72200" y="3520440"/>
            <a:ext cx="64008" cy="640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36792" y="344728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Gearbox oil temperature (°C)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72200" y="3840480"/>
            <a:ext cx="64008" cy="640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36792" y="376732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Gearbox bearing temperature (°C)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72200" y="4160520"/>
            <a:ext cx="64008" cy="640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6792" y="408736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bearing temperatures — DE / NDE (°C)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72200" y="4480560"/>
            <a:ext cx="64008" cy="640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36792" y="440740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Nacelle temperature (°C)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72200" y="4800600"/>
            <a:ext cx="64008" cy="640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36792" y="472744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meter — active / reactive power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72200" y="5120640"/>
            <a:ext cx="64008" cy="640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36792" y="504748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status / event codes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11480" y="6473952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Plumley 2022/2023 — Zenodo DOI 10.5281/zenodo.5841833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59752" y="66019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Matthew Mitchell · MMKPC Studios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256032"/>
            <a:ext cx="36576" cy="20116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C6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Pipeline — Four Models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11365992" cy="0"/>
          </a:xfrm>
          <a:prstGeom prst="line">
            <a:avLst/>
          </a:prstGeom>
          <a:noFill/>
          <a:ln w="12700">
            <a:solidFill>
              <a:srgbClr val="1E2D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71600"/>
            <a:ext cx="5568696" cy="210312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1481328"/>
            <a:ext cx="292608" cy="2926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481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499616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Curve Surrogate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" y="1847088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Polynomial Linear Regression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1208" y="210312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v, v², v³, ambient temperature 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1208" y="2395728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Active power P (kW)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1208" y="265176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law: cubic wind–power relationship in partial-load region. Walk-forward validation.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1208" y="3218688"/>
            <a:ext cx="5349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Rasheed et al. 2020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08776" y="1371600"/>
            <a:ext cx="5568696" cy="210312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18504" y="1481328"/>
            <a:ext cx="292608" cy="2926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1481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11696" y="1499616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Gearbox Thermal Forecast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18504" y="1847088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K-Nearest Neighbors (10-step ahead)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18504" y="210312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Gearbox temp (t−3…t), rotor RPM, ambient temp, power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18504" y="2395728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Gearbox oil temp at t+10 (°C)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18504" y="265176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KNN: non-parametric, low-dim feature space, dense training corpus. No distributional assumptions.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18504" y="3218688"/>
            <a:ext cx="5349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Garg et al. 2022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3657600"/>
            <a:ext cx="5568696" cy="210312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1208" y="3767328"/>
            <a:ext cx="292608" cy="2926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" y="3767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3785616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State Classifier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" y="4133088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Depth-2 Rule Tree (OCT-style)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1208" y="438912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Wind speed, anomaly score, pitch angle, rotor RPM, power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1208" y="4681728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State: Running · De-Rated · Stopped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1208" y="493776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interpretable rules. Inspired by Bertsimas &amp; Dunn OCT (2017). Pure-JS implementation.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1208" y="5504688"/>
            <a:ext cx="5349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Bertsimas &amp; Dunn 2017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08776" y="3657600"/>
            <a:ext cx="5568696" cy="210312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18504" y="3767328"/>
            <a:ext cx="292608" cy="2926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18504" y="3767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11696" y="3785616"/>
            <a:ext cx="4928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Detector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18504" y="4133088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Multivariate Z-Score (tanh-scaled)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18504" y="4389120"/>
            <a:ext cx="5349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Power, gearbox temp, bearing temps, pitch, yaw residuals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18504" y="4681728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Anomaly score ∈ [0, 1]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18504" y="493776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Normal-behaviour model pattern. Evaluated vs. 5% synthetic fault injection. AUROC / AUPRC primary metrics.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318504" y="5504688"/>
            <a:ext cx="5349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Schlechtingen &amp; Santos 2011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59752" y="66019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Matthew Mitchell · MMKPC Studios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256032"/>
            <a:ext cx="36576" cy="20116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C6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Results — Headline Metrics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11365992" cy="0"/>
          </a:xfrm>
          <a:prstGeom prst="line">
            <a:avLst/>
          </a:prstGeom>
          <a:noFill/>
          <a:ln w="12700">
            <a:solidFill>
              <a:srgbClr val="1E2D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89888"/>
            <a:ext cx="2738628" cy="233172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17904"/>
            <a:ext cx="25557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Curve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47088"/>
            <a:ext cx="25557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= 0.976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2807208"/>
            <a:ext cx="25557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88.63 kW · MAE 62.42 kW · MAPE 11.54%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87268" y="1389888"/>
            <a:ext cx="2738628" cy="233172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8708" y="1517904"/>
            <a:ext cx="25557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Gearbox Forecast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78708" y="1847088"/>
            <a:ext cx="25557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3.36 °C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78708" y="2807208"/>
            <a:ext cx="25557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2.55 °C · 10-step KNN ahead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1389888"/>
            <a:ext cx="2738628" cy="233172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517904"/>
            <a:ext cx="25557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Classifier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54496" y="1847088"/>
            <a:ext cx="25557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 92.4%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54496" y="2807208"/>
            <a:ext cx="25557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58.4% · 3-class (imbalanced)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38844" y="1389888"/>
            <a:ext cx="2738628" cy="233172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30284" y="1517904"/>
            <a:ext cx="25557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90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 Detector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30284" y="1847088"/>
            <a:ext cx="25557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A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AUROC 0.860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30284" y="2807208"/>
            <a:ext cx="25557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 0.517 · 5% fault injection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913632"/>
            <a:ext cx="11365992" cy="749808"/>
          </a:xfrm>
          <a:prstGeom prst="rect">
            <a:avLst/>
          </a:prstGeom>
          <a:solidFill>
            <a:srgbClr val="1E2D38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98678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A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INFERENCE LATENCY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4242816"/>
            <a:ext cx="110002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0.869 ms  ·  p95 0.970 ms  →  Soft-real-time headroom for 10-minute SCADA cycle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" y="6473952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Kelmarsh SCADA — Zenodo 10.5281/zenodo.5841833</a:t>
            </a:r>
            <a:pPr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Walk-forward evaluation protocol — Hyndman &amp; Athanasopoulos 2021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59752" y="66019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Matthew Mitchell · MMKPC Studios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256032"/>
            <a:ext cx="36576" cy="20116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MODEL 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C6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Curve — Linear Regression Surrogate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11365992" cy="0"/>
          </a:xfrm>
          <a:prstGeom prst="line">
            <a:avLst/>
          </a:prstGeom>
          <a:noFill/>
          <a:ln w="12700">
            <a:solidFill>
              <a:srgbClr val="1E2D38"/>
            </a:solidFill>
            <a:prstDash val="solid"/>
          </a:ln>
        </p:spPr>
      </p:sp>
      <p:pic>
        <p:nvPicPr>
          <p:cNvPr id="8" name="Image 0" descr="/home/user/workspace/aperture-twin/docs/figures/fig_power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6858000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43800" y="1371600"/>
            <a:ext cx="4233672" cy="402336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26680" y="1481328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26680" y="1874520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= 0.976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26680" y="2148840"/>
            <a:ext cx="3867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features [v, v², v³, T] capture the cubic partial-load regime with high fidelity.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26680" y="2715768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 88.63 kW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26680" y="2990088"/>
            <a:ext cx="3867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concentrate near cut-in and rated-power transition; largest errors under turbulent inflow.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26680" y="3557016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Walk-forward protocol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26680" y="3831336"/>
            <a:ext cx="3867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Chronologically ordered train/test split (no look-ahead leakage). Train: May–Oct 2016; Test: Nov–Dec 2016.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26680" y="4398264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Caveats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26680" y="4672584"/>
            <a:ext cx="3867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effects, yaw misalignment, and icing events inflate residuals at the extremes — not captured by the polynomial surrogate.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11480" y="6473952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Kelmarsh WT1 SCADA 2016 — Zenodo 5841834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59752" y="66019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Matthew Mitchell · MMKPC Studios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256032"/>
            <a:ext cx="36576" cy="20116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MODEL 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C6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Gearbox Thermal Forecast — KNN 10-Step Ahead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11365992" cy="0"/>
          </a:xfrm>
          <a:prstGeom prst="line">
            <a:avLst/>
          </a:prstGeom>
          <a:noFill/>
          <a:ln w="12700">
            <a:solidFill>
              <a:srgbClr val="1E2D38"/>
            </a:solidFill>
            <a:prstDash val="solid"/>
          </a:ln>
        </p:spPr>
      </p:sp>
      <p:pic>
        <p:nvPicPr>
          <p:cNvPr id="8" name="Image 0" descr="/home/user/workspace/aperture-twin/docs/figures/fig_gearbox_fore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6858000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43800" y="1371600"/>
            <a:ext cx="4233672" cy="402336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26680" y="1481328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26680" y="1874520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 3.36 °C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26680" y="2148840"/>
            <a:ext cx="3867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10-step ahead forecast with feature vector: gearbox temp (t−3…t), rotor RPM, ambient temp, power.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26680" y="2715768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 2.55 °C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26680" y="2990088"/>
            <a:ext cx="3867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absolute deviation well within the 5 °C early-warning threshold used in field condition monitoring.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26680" y="3557016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Non-parametric choice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726680" y="3831336"/>
            <a:ext cx="3867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makes no distributional assumptions and generalizes well when the training corpus is dense relative to the query region.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26680" y="4398264"/>
            <a:ext cx="3867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in DT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26680" y="4672584"/>
            <a:ext cx="3867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feeds the annunciator threshold check. Sustained exceedance of predicted baseline triggers ALARM state.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11480" y="6473952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Kelmarsh WT1 SCADA 2016 — Zenodo 5841834</a:t>
            </a:r>
            <a:pPr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Garg et al. 2022 — AI surrogates for DTs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59752" y="66019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Matthew Mitchell · MMKPC Studios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256032"/>
            <a:ext cx="36576" cy="20116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MODEL 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C6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State Classifier — Confusion Matrix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11365992" cy="0"/>
          </a:xfrm>
          <a:prstGeom prst="line">
            <a:avLst/>
          </a:prstGeom>
          <a:noFill/>
          <a:ln w="12700">
            <a:solidFill>
              <a:srgbClr val="1E2D38"/>
            </a:solidFill>
            <a:prstDash val="solid"/>
          </a:ln>
        </p:spPr>
      </p:sp>
      <p:pic>
        <p:nvPicPr>
          <p:cNvPr id="8" name="Image 0" descr="/home/user/workspace/aperture-twin/docs/figures/fig_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6400800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086600" y="1371600"/>
            <a:ext cx="4690872" cy="402336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69480" y="148132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269480" y="1874520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92.4%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269480" y="2148840"/>
            <a:ext cx="4325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overall accuracy — majority class "Running" is well-classified by the depth-2 rule tree.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269480" y="2715768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Macro-F1 58.4%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269480" y="2990088"/>
            <a:ext cx="4325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class imbalance: "De-Rated" and "Stopped" are rare in the autumn test window (Nov–Dec 2016). Not inflated.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269480" y="3557016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OCT-style rules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269480" y="3831336"/>
            <a:ext cx="4325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Depth-2 tree uses interpretable thresholds on wind speed, anomaly score, pitch angle, rotor RPM, and power.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269480" y="4398264"/>
            <a:ext cx="4325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269480" y="4672584"/>
            <a:ext cx="43251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· De-Rated · Stopped. F1 per class varies; the classifier correctly flags all Stopped events.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86600" y="5440680"/>
            <a:ext cx="4690872" cy="640080"/>
          </a:xfrm>
          <a:prstGeom prst="rect">
            <a:avLst/>
          </a:prstGeom>
          <a:solidFill>
            <a:srgbClr val="1A0F00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69480" y="5486400"/>
            <a:ext cx="4325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9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58.4% reflects class imbalance in the autumn test window — this result is not inflated.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11480" y="6473952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Bertsimas &amp; Dunn 2017 — Optimal Classification Trees</a:t>
            </a:r>
            <a:pPr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Davis &amp; Goadrich 2006 — PR vs ROC curves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59752" y="66019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Matthew Mitchell · MMKPC Studios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256032"/>
            <a:ext cx="36576" cy="20116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MODEL 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C6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Detection Timeline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11365992" cy="0"/>
          </a:xfrm>
          <a:prstGeom prst="line">
            <a:avLst/>
          </a:prstGeom>
          <a:noFill/>
          <a:ln w="12700">
            <a:solidFill>
              <a:srgbClr val="1E2D38"/>
            </a:solidFill>
            <a:prstDash val="solid"/>
          </a:ln>
        </p:spPr>
      </p:sp>
      <p:pic>
        <p:nvPicPr>
          <p:cNvPr id="8" name="Image 0" descr="/home/user/workspace/aperture-twin/docs/figures/fig_anomaly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11365992" cy="3474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4956048"/>
            <a:ext cx="11365992" cy="1170432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0474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0.860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54498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520440" y="50474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0.517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520440" y="54498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55080" y="504748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355080" y="544982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Injection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006840" y="50292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90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against synthetic fault injection at 5% prevalence. Real event-log evaluation is future work.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11480" y="6473952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8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Davis &amp; Goadrich 2006 — Precision-Recall vs. ROC</a:t>
            </a:r>
            <a:pPr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8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Kelmarsh SCADA — Zenodo 5841834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59752" y="66019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Matthew Mitchell · MMKPC Studios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256032"/>
            <a:ext cx="36576" cy="20116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C6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System Demo — Fault Injection Walkthrough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11365992" cy="0"/>
          </a:xfrm>
          <a:prstGeom prst="line">
            <a:avLst/>
          </a:prstGeom>
          <a:noFill/>
          <a:ln w="12700">
            <a:solidFill>
              <a:srgbClr val="1E2D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25880"/>
            <a:ext cx="11365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URL: </a:t>
            </a:r>
            <a:pPr indent="0" marL="0">
              <a:buNone/>
            </a:pPr>
            <a:r>
              <a:rPr lang="en-US" sz="1300" b="1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aperture-wind-turbine-dt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719072"/>
            <a:ext cx="11365992" cy="109728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47088"/>
            <a:ext cx="512064" cy="512064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47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1828800"/>
            <a:ext cx="10451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the Application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130552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deployed URL. The 3D nacelle scene initializes, SCADA stream begins ticking at 10-minute logical steps, and the DCS annunciator panel shows NORMAL state.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926080"/>
            <a:ext cx="11365992" cy="109728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054096"/>
            <a:ext cx="512064" cy="512064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54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035808"/>
            <a:ext cx="10451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 Fault: gearbox_overheat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337560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"Fault: Gearbox Overheat" from the fault injection panel. The SCADA stream generator begins incrementing gearbox oil temperature above the normal-behaviour model baseline.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4133088"/>
            <a:ext cx="11365992" cy="109728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261104"/>
            <a:ext cx="512064" cy="512064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611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4242816"/>
            <a:ext cx="10451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the Inference Pipeline React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544568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 climbs from 0.08 (baseline) → 0.96 (alarm threshold). The annunciator fires ALARM. The 3D nacelle tints red. Actuator layer latches a shutdown command.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1480" y="5340096"/>
            <a:ext cx="11365992" cy="109728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5468112"/>
            <a:ext cx="512064" cy="512064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4681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3000" y="5449824"/>
            <a:ext cx="10451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 Response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5751576"/>
            <a:ext cx="10451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acknowledges the alarm, issues pitch-to-feather command, and resets the fault. The twin transitions back to NORMAL state. Full closed-loop cycle demonstrated.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59752" y="66019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Matthew Mitchell · MMKPC Studios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256032"/>
            <a:ext cx="36576" cy="20116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AREAS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C6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Subject-Area Alignment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11365992" cy="0"/>
          </a:xfrm>
          <a:prstGeom prst="line">
            <a:avLst/>
          </a:prstGeom>
          <a:noFill/>
          <a:ln w="12700">
            <a:solidFill>
              <a:srgbClr val="1E2D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71600"/>
            <a:ext cx="11365992" cy="384048"/>
          </a:xfrm>
          <a:prstGeom prst="rect">
            <a:avLst/>
          </a:prstGeom>
          <a:solidFill>
            <a:srgbClr val="1E2D38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356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Area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73552" y="143560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 Aperture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01384" y="14356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31936" y="1435608"/>
            <a:ext cx="3227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1755648"/>
            <a:ext cx="11365992" cy="96012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10512"/>
            <a:ext cx="25603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Fundamentals: Intro to Digital Transformations &amp; DTs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73552" y="1810512"/>
            <a:ext cx="30175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9-layer reference architecture maps directly to Grieves/Tao 5D model; Kritzinger maturity tier assessed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01384" y="1810512"/>
            <a:ext cx="19202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31936" y="1810512"/>
            <a:ext cx="322783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core/schemas.js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core/bus.js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752344"/>
            <a:ext cx="11365992" cy="960120"/>
          </a:xfrm>
          <a:prstGeom prst="rect">
            <a:avLst/>
          </a:prstGeom>
          <a:solidFill>
            <a:srgbClr val="0D1219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07208"/>
            <a:ext cx="25603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 Modeling &amp; Simulation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73552" y="2807208"/>
            <a:ext cx="30175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production ML models: power-curve LR, gearbox KNN, state OCT-style tree, multivariate anomaly scorer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01384" y="2807208"/>
            <a:ext cx="19202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1936" y="2807208"/>
            <a:ext cx="322783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ml/power_curve.js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ml/gearbox_knn.js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ml/classifier.js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ml/anomaly.js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749040"/>
            <a:ext cx="11365992" cy="96012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803904"/>
            <a:ext cx="25603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Simulation Modeling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73552" y="3803904"/>
            <a:ext cx="30175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DES-style step-through simulation; typed event bus mirroring Kafka/MQTT topology; OPC UA standards alignment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01384" y="3803904"/>
            <a:ext cx="19202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4.2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31936" y="3803904"/>
            <a:ext cx="322783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simulation/engine.js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core/bus.js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4745736"/>
            <a:ext cx="11365992" cy="960120"/>
          </a:xfrm>
          <a:prstGeom prst="rect">
            <a:avLst/>
          </a:prstGeom>
          <a:solidFill>
            <a:srgbClr val="0D1219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800600"/>
            <a:ext cx="25603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6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Applications: Project-Based DT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73552" y="4800600"/>
            <a:ext cx="30175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deployed SPA: 3D scene, annunciator, actuator surface, fault injection testbed, reproduce pipeline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01384" y="4800600"/>
            <a:ext cx="19202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6.4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31936" y="4800600"/>
            <a:ext cx="3227832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paper/evaluate.py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A0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paper/metrics.json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59752" y="66019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Matthew Mitchell · MMKPC Studios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" y="256032"/>
            <a:ext cx="36576" cy="20116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66928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C6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· Future Work · Thank You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11365992" cy="0"/>
          </a:xfrm>
          <a:prstGeom prst="line">
            <a:avLst/>
          </a:prstGeom>
          <a:noFill/>
          <a:ln w="12700">
            <a:solidFill>
              <a:srgbClr val="1E2D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371600"/>
            <a:ext cx="5394960" cy="416052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813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0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 LIMITATIONS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011680"/>
            <a:ext cx="64008" cy="64008"/>
          </a:xfrm>
          <a:prstGeom prst="rect">
            <a:avLst/>
          </a:prstGeom>
          <a:solidFill>
            <a:srgbClr val="E89059"/>
          </a:solidFill>
          <a:ln w="12700">
            <a:solidFill>
              <a:srgbClr val="E890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920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 SCADA compression masks sub-minute mechanical events (vibration, acoustic).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578608"/>
            <a:ext cx="64008" cy="64008"/>
          </a:xfrm>
          <a:prstGeom prst="rect">
            <a:avLst/>
          </a:prstGeom>
          <a:solidFill>
            <a:srgbClr val="E89059"/>
          </a:solidFill>
          <a:ln w="12700">
            <a:solidFill>
              <a:srgbClr val="E890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48716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labels are synthetic (5% fault injection); no real event-log ground truth used.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145536"/>
            <a:ext cx="64008" cy="64008"/>
          </a:xfrm>
          <a:prstGeom prst="rect">
            <a:avLst/>
          </a:prstGeom>
          <a:solidFill>
            <a:srgbClr val="E89059"/>
          </a:solidFill>
          <a:ln w="12700">
            <a:solidFill>
              <a:srgbClr val="E890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05409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OPC UA / MQTT live ingestion — SCADA stream is a replay generator.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712464"/>
            <a:ext cx="64008" cy="64008"/>
          </a:xfrm>
          <a:prstGeom prst="rect">
            <a:avLst/>
          </a:prstGeom>
          <a:solidFill>
            <a:srgbClr val="E89059"/>
          </a:solidFill>
          <a:ln w="12700">
            <a:solidFill>
              <a:srgbClr val="E890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62102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effects and inter-turbine interactions not modeled.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279392"/>
            <a:ext cx="64008" cy="64008"/>
          </a:xfrm>
          <a:prstGeom prst="rect">
            <a:avLst/>
          </a:prstGeom>
          <a:solidFill>
            <a:srgbClr val="E89059"/>
          </a:solidFill>
          <a:ln w="12700">
            <a:solidFill>
              <a:srgbClr val="E890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18795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Pure-JS ML ceiling: no GPU acceleration, no deep learning surrogates.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846320"/>
            <a:ext cx="64008" cy="64008"/>
          </a:xfrm>
          <a:prstGeom prst="rect">
            <a:avLst/>
          </a:prstGeom>
          <a:solidFill>
            <a:srgbClr val="E89059"/>
          </a:solidFill>
          <a:ln w="12700">
            <a:solidFill>
              <a:srgbClr val="E890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47548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Single-turbine validation only (WT1); cross-farm generalization untested.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80760" y="1371600"/>
            <a:ext cx="5696712" cy="4160520"/>
          </a:xfrm>
          <a:prstGeom prst="rect">
            <a:avLst/>
          </a:prstGeom>
          <a:solidFill>
            <a:srgbClr val="12181F"/>
          </a:solidFill>
          <a:ln w="12700">
            <a:solidFill>
              <a:srgbClr val="1E2D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481328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C6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2011680"/>
            <a:ext cx="64008" cy="640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8232" y="1920240"/>
            <a:ext cx="5166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blade aerodynamics surrogate — enforce Betz limit and Euler-Bernoulli constraints.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2706624"/>
            <a:ext cx="64008" cy="640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2615184"/>
            <a:ext cx="5166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OpenFAST FMU integration — high-fidelity aeroelastic co-simulation alongside the ML models.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3401568"/>
            <a:ext cx="64008" cy="640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310128"/>
            <a:ext cx="5166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Penmanshiel cross-farm validation — test transfer learning across MM92/MM82 fleets.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4096512"/>
            <a:ext cx="64008" cy="640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4005072"/>
            <a:ext cx="5166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OPC UA / MQTT ingest — replace synthetic SCADA replay with live nacelle controller feed.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4791456"/>
            <a:ext cx="64008" cy="64008"/>
          </a:xfrm>
          <a:prstGeom prst="rect">
            <a:avLst/>
          </a:prstGeom>
          <a:solidFill>
            <a:srgbClr val="4BC6CD"/>
          </a:solidFill>
          <a:ln w="12700">
            <a:solidFill>
              <a:srgbClr val="4BC6C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4700016"/>
            <a:ext cx="5166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study — assess annunciator usability and alarm fatigue with real O&amp;M personnel.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5650992"/>
            <a:ext cx="12188952" cy="1207008"/>
          </a:xfrm>
          <a:prstGeom prst="rect">
            <a:avLst/>
          </a:prstGeom>
          <a:solidFill>
            <a:srgbClr val="12181F"/>
          </a:solidFill>
          <a:ln w="12700">
            <a:solidFill>
              <a:srgbClr val="12181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574243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A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· Questions?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11480" y="6172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Matthew Mitchell · MMKPC Studios  ·  </a:t>
            </a:r>
            <a:pPr algn="ctr" indent="0" marL="0">
              <a:buNone/>
            </a:pPr>
            <a:r>
              <a:rPr lang="en-US" sz="1200" u="sng" dirty="0">
                <a:solidFill>
                  <a:srgbClr val="4BC6C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github.com/MMKPC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2026-04-17T09:11:27Z</dcterms:created>
  <dcterms:modified xsi:type="dcterms:W3CDTF">2026-04-17T09:11:27Z</dcterms:modified>
</cp:coreProperties>
</file>